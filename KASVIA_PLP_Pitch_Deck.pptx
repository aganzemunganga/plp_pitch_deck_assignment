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8288000" cy="10287000"/>
  <p:notesSz cx="6858000" cy="9144000"/>
  <p:embeddedFontLst>
    <p:embeddedFont>
      <p:font typeface="Barlow" panose="00000500000000000000" pitchFamily="2" charset="0"/>
      <p:regular r:id="rId17"/>
      <p:bold r:id="rId18"/>
    </p:embeddedFont>
    <p:embeddedFont>
      <p:font typeface="Barlow Medium" panose="00000600000000000000" pitchFamily="2" charset="0"/>
      <p:regular r:id="rId19"/>
    </p:embeddedFont>
    <p:embeddedFont>
      <p:font typeface="Barlow Semi-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22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4.sv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hyperlink" Target="mailto:chrisjoy5511@gmail.com" TargetMode="External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B6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52450"/>
            <a:ext cx="9601200" cy="11544300"/>
          </a:xfrm>
          <a:custGeom>
            <a:avLst/>
            <a:gdLst/>
            <a:ahLst/>
            <a:cxnLst/>
            <a:rect l="l" t="t" r="r" b="b"/>
            <a:pathLst>
              <a:path w="9601200" h="11544300">
                <a:moveTo>
                  <a:pt x="0" y="0"/>
                </a:moveTo>
                <a:lnTo>
                  <a:pt x="9601200" y="0"/>
                </a:lnTo>
                <a:lnTo>
                  <a:pt x="9601200" y="11544300"/>
                </a:lnTo>
                <a:lnTo>
                  <a:pt x="0" y="11544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5381" t="-2505" b="-10089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024128" y="2926080"/>
            <a:ext cx="7589520" cy="5304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00"/>
              </a:lnSpc>
              <a:spcAft>
                <a:spcPts val="1400"/>
              </a:spcAft>
            </a:pPr>
            <a:r>
              <a:rPr lang="en-US" sz="9600" b="1" dirty="0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KASVIA</a:t>
            </a:r>
          </a:p>
          <a:p>
            <a:pPr algn="l">
              <a:lnSpc>
                <a:spcPts val="8000"/>
              </a:lnSpc>
              <a:spcAft>
                <a:spcPts val="1400"/>
              </a:spcAft>
            </a:pPr>
            <a:r>
              <a:rPr lang="en-US" sz="3400" b="0" dirty="0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Kakuma Savings &amp; Village Investment Assistant</a:t>
            </a:r>
          </a:p>
          <a:p>
            <a:pPr algn="l">
              <a:lnSpc>
                <a:spcPts val="8000"/>
              </a:lnSpc>
              <a:spcAft>
                <a:spcPts val="1400"/>
              </a:spcAft>
            </a:pPr>
            <a:r>
              <a:rPr lang="en-US" sz="2800" b="0" dirty="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A digital passbook for every village savings group</a:t>
            </a:r>
            <a:r>
              <a:rPr lang="en-KE" sz="2800" b="0" dirty="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.</a:t>
            </a:r>
            <a:endParaRPr lang="en-US" sz="2800" b="0" dirty="0">
              <a:solidFill>
                <a:srgbClr val="90113E"/>
              </a:solidFill>
              <a:latin typeface="Barlow Semi-Bold"/>
              <a:ea typeface="Barlow Semi-Bold"/>
              <a:cs typeface="Barlow Semi-Bold"/>
              <a:sym typeface="Barlow Semi-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29257" y="9576600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 b="1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01</a:t>
            </a:r>
          </a:p>
        </p:txBody>
      </p:sp>
      <p:sp>
        <p:nvSpPr>
          <p:cNvPr id="5" name="Freeform 5"/>
          <p:cNvSpPr/>
          <p:nvPr/>
        </p:nvSpPr>
        <p:spPr>
          <a:xfrm>
            <a:off x="11110869" y="1593957"/>
            <a:ext cx="5621312" cy="7251486"/>
          </a:xfrm>
          <a:custGeom>
            <a:avLst/>
            <a:gdLst/>
            <a:ahLst/>
            <a:cxnLst/>
            <a:rect l="l" t="t" r="r" b="b"/>
            <a:pathLst>
              <a:path w="5621312" h="7251486">
                <a:moveTo>
                  <a:pt x="0" y="0"/>
                </a:moveTo>
                <a:lnTo>
                  <a:pt x="5621312" y="0"/>
                </a:lnTo>
                <a:lnTo>
                  <a:pt x="5621312" y="7251486"/>
                </a:lnTo>
                <a:lnTo>
                  <a:pt x="0" y="72514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303663" y="143884"/>
            <a:ext cx="1837509" cy="1837509"/>
          </a:xfrm>
          <a:custGeom>
            <a:avLst/>
            <a:gdLst/>
            <a:ahLst/>
            <a:cxnLst/>
            <a:rect l="l" t="t" r="r" b="b"/>
            <a:pathLst>
              <a:path w="1837509" h="1837509">
                <a:moveTo>
                  <a:pt x="0" y="0"/>
                </a:moveTo>
                <a:lnTo>
                  <a:pt x="1837510" y="0"/>
                </a:lnTo>
                <a:lnTo>
                  <a:pt x="1837510" y="1837510"/>
                </a:lnTo>
                <a:lnTo>
                  <a:pt x="0" y="18375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258270" y="-349930"/>
            <a:ext cx="7708159" cy="10986860"/>
          </a:xfrm>
          <a:prstGeom prst="rect">
            <a:avLst/>
          </a:prstGeom>
          <a:solidFill>
            <a:srgbClr val="0BB6BC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170432" y="1188720"/>
            <a:ext cx="9144000" cy="3017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355"/>
              </a:lnSpc>
            </a:pPr>
            <a:r>
              <a:rPr lang="en-US" sz="6200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Paper record books are the weakest link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70432" y="4114800"/>
            <a:ext cx="9052560" cy="4937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2920" indent="-502920" algn="l">
              <a:lnSpc>
                <a:spcPts val="3850"/>
              </a:lnSpc>
              <a:spcAft>
                <a:spcPts val="1000"/>
              </a:spcAft>
              <a:buFont typeface="Arial"/>
              <a:buChar char="•"/>
            </a:pPr>
            <a:r>
              <a:rPr lang="en-US" sz="2500" b="1">
                <a:solidFill>
                  <a:srgbClr val="90113E"/>
                </a:solidFill>
                <a:latin typeface="Barlow Medium"/>
                <a:ea typeface="Barlow Medium"/>
                <a:cs typeface="Barlow Medium"/>
                <a:sym typeface="Barlow Medium"/>
              </a:rPr>
              <a:t>One notebook, one point of failure. </a:t>
            </a:r>
            <a:r>
              <a:rPr lang="en-US" sz="2500" b="1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A torn, wet or lost book can wipe out months of savings history.</a:t>
            </a:r>
          </a:p>
          <a:p>
            <a:pPr marL="502920" indent="-502920" algn="l">
              <a:lnSpc>
                <a:spcPts val="3850"/>
              </a:lnSpc>
              <a:spcAft>
                <a:spcPts val="1000"/>
              </a:spcAft>
              <a:buFont typeface="Arial"/>
              <a:buChar char="•"/>
            </a:pPr>
            <a:r>
              <a:rPr lang="en-US" sz="2500" b="1">
                <a:solidFill>
                  <a:srgbClr val="90113E"/>
                </a:solidFill>
                <a:latin typeface="Barlow Medium"/>
                <a:ea typeface="Barlow Medium"/>
                <a:cs typeface="Barlow Medium"/>
                <a:sym typeface="Barlow Medium"/>
              </a:rPr>
              <a:t>Manual arithmetic. </a:t>
            </a:r>
            <a:r>
              <a:rPr lang="en-US" sz="2500" b="1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Interest and balances are calculated by hand, so small mistakes compound.</a:t>
            </a:r>
          </a:p>
          <a:p>
            <a:pPr marL="502920" indent="-502920" algn="l">
              <a:lnSpc>
                <a:spcPts val="3850"/>
              </a:lnSpc>
              <a:spcAft>
                <a:spcPts val="1000"/>
              </a:spcAft>
              <a:buFont typeface="Arial"/>
              <a:buChar char="•"/>
            </a:pPr>
            <a:r>
              <a:rPr lang="en-US" sz="2500" b="1">
                <a:solidFill>
                  <a:srgbClr val="90113E"/>
                </a:solidFill>
                <a:latin typeface="Barlow Medium"/>
                <a:ea typeface="Barlow Medium"/>
                <a:cs typeface="Barlow Medium"/>
                <a:sym typeface="Barlow Medium"/>
              </a:rPr>
              <a:t>Almost impossible to audit. </a:t>
            </a:r>
            <a:r>
              <a:rPr lang="en-US" sz="2500" b="1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No record of who changed a figure, when or why, which erodes trust in the treasurer.</a:t>
            </a:r>
          </a:p>
          <a:p>
            <a:pPr marL="502920" indent="-502920" algn="l">
              <a:lnSpc>
                <a:spcPts val="3850"/>
              </a:lnSpc>
              <a:spcAft>
                <a:spcPts val="1000"/>
              </a:spcAft>
              <a:buFont typeface="Arial"/>
              <a:buChar char="•"/>
            </a:pPr>
            <a:r>
              <a:rPr lang="en-US" sz="2500" b="1">
                <a:solidFill>
                  <a:srgbClr val="90113E"/>
                </a:solidFill>
                <a:latin typeface="Barlow Medium"/>
                <a:ea typeface="Barlow Medium"/>
                <a:cs typeface="Barlow Medium"/>
                <a:sym typeface="Barlow Medium"/>
              </a:rPr>
              <a:t>No connectivity. </a:t>
            </a:r>
            <a:r>
              <a:rPr lang="en-US" sz="2500" b="1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Most Kakuma VSL groups meet with no reliable internet, ruling out cloud tools.</a:t>
            </a:r>
          </a:p>
        </p:txBody>
      </p:sp>
      <p:sp>
        <p:nvSpPr>
          <p:cNvPr id="6" name="Freeform 6"/>
          <p:cNvSpPr/>
          <p:nvPr/>
        </p:nvSpPr>
        <p:spPr>
          <a:xfrm>
            <a:off x="10744201" y="1028700"/>
            <a:ext cx="5715000" cy="8229600"/>
          </a:xfrm>
          <a:custGeom>
            <a:avLst/>
            <a:gdLst/>
            <a:ahLst/>
            <a:cxnLst/>
            <a:rect l="l" t="t" r="r" b="b"/>
            <a:pathLst>
              <a:path w="6595619" h="8229600">
                <a:moveTo>
                  <a:pt x="0" y="0"/>
                </a:moveTo>
                <a:lnTo>
                  <a:pt x="6595619" y="0"/>
                </a:lnTo>
                <a:lnTo>
                  <a:pt x="65956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02</a:t>
            </a:r>
          </a:p>
        </p:txBody>
      </p:sp>
      <p:sp>
        <p:nvSpPr>
          <p:cNvPr id="8" name="Freeform 8"/>
          <p:cNvSpPr/>
          <p:nvPr/>
        </p:nvSpPr>
        <p:spPr>
          <a:xfrm>
            <a:off x="629257" y="893789"/>
            <a:ext cx="1079292" cy="269823"/>
          </a:xfrm>
          <a:custGeom>
            <a:avLst/>
            <a:gdLst/>
            <a:ahLst/>
            <a:cxnLst/>
            <a:rect l="l" t="t" r="r" b="b"/>
            <a:pathLst>
              <a:path w="1079292" h="269823">
                <a:moveTo>
                  <a:pt x="0" y="0"/>
                </a:moveTo>
                <a:lnTo>
                  <a:pt x="1079292" y="0"/>
                </a:lnTo>
                <a:lnTo>
                  <a:pt x="1079292" y="269822"/>
                </a:lnTo>
                <a:lnTo>
                  <a:pt x="0" y="2698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384419" y="8852679"/>
            <a:ext cx="347753" cy="243427"/>
          </a:xfrm>
          <a:custGeom>
            <a:avLst/>
            <a:gdLst/>
            <a:ahLst/>
            <a:cxnLst/>
            <a:rect l="l" t="t" r="r" b="b"/>
            <a:pathLst>
              <a:path w="463671" h="324570">
                <a:moveTo>
                  <a:pt x="0" y="0"/>
                </a:moveTo>
                <a:lnTo>
                  <a:pt x="463671" y="0"/>
                </a:lnTo>
                <a:lnTo>
                  <a:pt x="463671" y="324570"/>
                </a:lnTo>
                <a:lnTo>
                  <a:pt x="0" y="32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024128" y="621792"/>
            <a:ext cx="15544800" cy="1280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8000" b="1" u="none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Bold"/>
              </a:rPr>
              <a:t>Our 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4128" y="2926080"/>
            <a:ext cx="10607040" cy="5120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2920" lvl="0" indent="-502920" algn="l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lang="en-US" sz="2600" b="1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Fully offline: </a:t>
            </a:r>
            <a:r>
              <a:rPr lang="en-US" sz="2600" u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record, calculate, search, print and back up with no internet</a:t>
            </a:r>
          </a:p>
          <a:p>
            <a:pPr marL="502920" lvl="0" indent="-502920" algn="l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lang="en-US" sz="2600" b="1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Three-role security: </a:t>
            </a:r>
            <a:r>
              <a:rPr lang="en-US" sz="2600" u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Administrator, Treasurer and Secretary see only what their role permits</a:t>
            </a:r>
          </a:p>
          <a:p>
            <a:pPr marL="502920" lvl="0" indent="-502920" algn="l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lang="en-US" sz="2600" b="1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Nothing is ever deleted: </a:t>
            </a:r>
            <a:r>
              <a:rPr lang="en-US" sz="2600" u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mistakes are voided and reversed, and every change is audit-logged</a:t>
            </a:r>
          </a:p>
          <a:p>
            <a:pPr marL="502920" lvl="0" indent="-502920" algn="l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lang="en-US" sz="2600" b="1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Runs on what groups already have: </a:t>
            </a:r>
            <a:r>
              <a:rPr lang="en-US" sz="2600" u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 shared laptop or any member’s phone browser</a:t>
            </a:r>
          </a:p>
          <a:p>
            <a:pPr marL="502920" lvl="0" indent="-502920" algn="l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lang="en-US" sz="2600" b="1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Signed receipt </a:t>
            </a:r>
            <a:r>
              <a:rPr lang="en-US" sz="2600" u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printed for every transaction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148840"/>
            <a:ext cx="15544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600" b="1">
                <a:solidFill>
                  <a:srgbClr val="90113E"/>
                </a:solidFill>
                <a:latin typeface="Barlow"/>
              </a:rPr>
              <a:t>KASVIA replaces the notebook, not the group’s rules</a:t>
            </a:r>
          </a:p>
        </p:txBody>
      </p:sp>
      <p:pic>
        <p:nvPicPr>
          <p:cNvPr id="10" name="Picture 9" descr="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0" y="3566160"/>
            <a:ext cx="4846320" cy="4730931"/>
          </a:xfrm>
          <a:prstGeom prst="rect">
            <a:avLst/>
          </a:prstGeom>
          <a:ln w="38100">
            <a:solidFill>
              <a:srgbClr val="0BB6BC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/>
          <p:cNvSpPr txBox="1"/>
          <p:nvPr/>
        </p:nvSpPr>
        <p:spPr>
          <a:xfrm>
            <a:off x="1024128" y="667512"/>
            <a:ext cx="8659368" cy="1225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  <a:spcBef>
                <a:spcPct val="0"/>
              </a:spcBef>
            </a:pPr>
            <a:r>
              <a:rPr lang="en-US" sz="8100" b="1" u="none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Bold"/>
              </a:rPr>
              <a:t>Product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612880" y="4480560"/>
            <a:ext cx="5760720" cy="4206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2920" lvl="0" indent="-502920" algn="l">
              <a:lnSpc>
                <a:spcPts val="3509"/>
              </a:lnSpc>
              <a:spcAft>
                <a:spcPts val="1200"/>
              </a:spcAft>
              <a:buFont typeface="Arial"/>
              <a:buChar char="•"/>
            </a:pPr>
            <a:r>
              <a:rPr lang="en-US" sz="2600" b="1" i="0" u="none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Italics"/>
              </a:rPr>
              <a:t>Members &amp; meetings: </a:t>
            </a:r>
            <a:r>
              <a:rPr lang="en-US" sz="2600" i="0" u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 Italics"/>
              </a:rPr>
              <a:t>registration, attendance, notes</a:t>
            </a:r>
          </a:p>
          <a:p>
            <a:pPr marL="502920" lvl="0" indent="-502920" algn="l">
              <a:lnSpc>
                <a:spcPts val="3509"/>
              </a:lnSpc>
              <a:spcAft>
                <a:spcPts val="1200"/>
              </a:spcAft>
              <a:buFont typeface="Arial"/>
              <a:buChar char="•"/>
            </a:pPr>
            <a:r>
              <a:rPr lang="en-US" sz="2600" b="1" i="0" u="none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Italics"/>
              </a:rPr>
              <a:t>Money in: </a:t>
            </a:r>
            <a:r>
              <a:rPr lang="en-US" sz="2600" i="0" u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 Italics"/>
              </a:rPr>
              <a:t>savings, shares, repayments, fines</a:t>
            </a:r>
          </a:p>
          <a:p>
            <a:pPr marL="502920" lvl="0" indent="-502920" algn="l">
              <a:lnSpc>
                <a:spcPts val="3509"/>
              </a:lnSpc>
              <a:spcAft>
                <a:spcPts val="1200"/>
              </a:spcAft>
              <a:buFont typeface="Arial"/>
              <a:buChar char="•"/>
            </a:pPr>
            <a:r>
              <a:rPr lang="en-US" sz="2600" b="1" i="0" u="none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Italics"/>
              </a:rPr>
              <a:t>Money out: </a:t>
            </a:r>
            <a:r>
              <a:rPr lang="en-US" sz="2600" i="0" u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 Italics"/>
              </a:rPr>
              <a:t>loans, welfare, expenses</a:t>
            </a:r>
          </a:p>
          <a:p>
            <a:pPr marL="502920" lvl="0" indent="-502920" algn="l">
              <a:lnSpc>
                <a:spcPts val="3509"/>
              </a:lnSpc>
              <a:spcAft>
                <a:spcPts val="1200"/>
              </a:spcAft>
              <a:buFont typeface="Arial"/>
              <a:buChar char="•"/>
            </a:pPr>
            <a:r>
              <a:rPr lang="en-US" sz="2600" b="1" i="0" u="none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Italics"/>
              </a:rPr>
              <a:t>Oversight: </a:t>
            </a:r>
            <a:r>
              <a:rPr lang="en-US" sz="2600" i="0" u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 Italics"/>
              </a:rPr>
              <a:t>cash reconciliation, reports, audit log, backups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612880" y="2331720"/>
            <a:ext cx="5760720" cy="1097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KASVIA is an offline-first web app that digitises every ledger a VSL group keeps.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04</a:t>
            </a:r>
          </a:p>
        </p:txBody>
      </p:sp>
      <p:pic>
        <p:nvPicPr>
          <p:cNvPr id="27" name="Picture 26" descr="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331720"/>
            <a:ext cx="9966960" cy="3460750"/>
          </a:xfrm>
          <a:prstGeom prst="rect">
            <a:avLst/>
          </a:prstGeom>
          <a:ln w="38100">
            <a:solidFill>
              <a:srgbClr val="0BB6BC"/>
            </a:solidFill>
          </a:ln>
        </p:spPr>
      </p:pic>
      <p:pic>
        <p:nvPicPr>
          <p:cNvPr id="28" name="Picture 27" descr="im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6080760"/>
            <a:ext cx="9966960" cy="2768600"/>
          </a:xfrm>
          <a:prstGeom prst="rect">
            <a:avLst/>
          </a:prstGeom>
          <a:ln w="38100">
            <a:solidFill>
              <a:srgbClr val="0BB6BC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099048" y="1596726"/>
            <a:ext cx="11247120" cy="1463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</a:pPr>
            <a:r>
              <a:rPr lang="en-US" sz="7200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Refugee + host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99048" y="2964714"/>
            <a:ext cx="11247120" cy="1280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000" b="1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Savings groups in Kakuma, with refugee and host-community members alike.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99048" y="4720014"/>
            <a:ext cx="11247120" cy="1463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</a:pPr>
            <a:r>
              <a:rPr lang="en-US" sz="7200" b="1" u="non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KES + M-Pesa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99048" y="6088002"/>
            <a:ext cx="11247120" cy="1280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000" b="1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Kenyan Shilling throughout, with manual M-Pesa reference capture and no internet.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99048" y="7337777"/>
            <a:ext cx="11247120" cy="1463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</a:pPr>
            <a:r>
              <a:rPr lang="en-US" sz="7200" b="1" u="non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EN / SW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99048" y="8705765"/>
            <a:ext cx="11247120" cy="1280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000" b="1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Interface built to switch between English and Swahili for every member.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52" y="4493818"/>
            <a:ext cx="4249772" cy="2479033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52" y="7932974"/>
            <a:ext cx="4249772" cy="1345761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52" y="1930507"/>
            <a:ext cx="4249772" cy="1919056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54480" y="320040"/>
            <a:ext cx="10972800" cy="128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</a:pPr>
            <a:r>
              <a:rPr lang="en-US" sz="8100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Target Market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4128" y="2377440"/>
            <a:ext cx="7498079" cy="6400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2920" indent="-502920" algn="l">
              <a:lnSpc>
                <a:spcPts val="4499"/>
              </a:lnSpc>
              <a:spcAft>
                <a:spcPts val="1600"/>
              </a:spcAft>
              <a:buFont typeface="Arial"/>
              <a:buChar char="•"/>
            </a:pPr>
            <a:r>
              <a:rPr lang="en-US" sz="2800" b="1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Total market: </a:t>
            </a:r>
            <a:r>
              <a:rPr lang="en-US" sz="28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VSL and community savings groups across Kenya</a:t>
            </a:r>
          </a:p>
          <a:p>
            <a:pPr marL="502920" indent="-502920" algn="l">
              <a:lnSpc>
                <a:spcPts val="4499"/>
              </a:lnSpc>
              <a:spcAft>
                <a:spcPts val="1600"/>
              </a:spcAft>
              <a:buFont typeface="Arial"/>
              <a:buChar char="•"/>
            </a:pPr>
            <a:r>
              <a:rPr lang="en-US" sz="2800" b="1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Serviceable market: </a:t>
            </a:r>
            <a:r>
              <a:rPr lang="en-US" sz="28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refugee and host-community groups in Kakuma that meet without reliable internet</a:t>
            </a:r>
          </a:p>
          <a:p>
            <a:pPr marL="502920" indent="-502920" algn="l">
              <a:lnSpc>
                <a:spcPts val="4499"/>
              </a:lnSpc>
              <a:spcAft>
                <a:spcPts val="1600"/>
              </a:spcAft>
              <a:buFont typeface="Arial"/>
              <a:buChar char="•"/>
            </a:pPr>
            <a:r>
              <a:rPr lang="en-US" sz="2800" b="1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First target: </a:t>
            </a:r>
            <a:r>
              <a:rPr lang="en-US" sz="28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one pilot VSL group for 4–6 weeks, then a wider rollout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622869"/>
            <a:ext cx="689673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  <a:spcBef>
                <a:spcPct val="0"/>
              </a:spcBef>
            </a:pPr>
            <a:r>
              <a:rPr lang="en-US" sz="8100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Bold"/>
              </a:rPr>
              <a:t>Market Size</a:t>
            </a:r>
          </a:p>
        </p:txBody>
      </p:sp>
      <p:sp>
        <p:nvSpPr>
          <p:cNvPr id="5" name="Oval 4"/>
          <p:cNvSpPr/>
          <p:nvPr/>
        </p:nvSpPr>
        <p:spPr>
          <a:xfrm>
            <a:off x="9235440" y="1737360"/>
            <a:ext cx="7680960" cy="7680960"/>
          </a:xfrm>
          <a:prstGeom prst="ellipse">
            <a:avLst/>
          </a:prstGeom>
          <a:solidFill>
            <a:srgbClr val="E6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09760" y="2148840"/>
            <a:ext cx="71323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90113E"/>
                </a:solidFill>
                <a:latin typeface="Barlow"/>
              </a:rPr>
              <a:t>Kenya VSL groups</a:t>
            </a:r>
          </a:p>
        </p:txBody>
      </p:sp>
      <p:sp>
        <p:nvSpPr>
          <p:cNvPr id="7" name="Oval 6"/>
          <p:cNvSpPr/>
          <p:nvPr/>
        </p:nvSpPr>
        <p:spPr>
          <a:xfrm>
            <a:off x="10515600" y="4297680"/>
            <a:ext cx="5120640" cy="5120640"/>
          </a:xfrm>
          <a:prstGeom prst="ellipse">
            <a:avLst/>
          </a:prstGeom>
          <a:solidFill>
            <a:srgbClr val="0BB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470916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Barlow"/>
              </a:rPr>
              <a:t>Kakuma groups</a:t>
            </a:r>
          </a:p>
        </p:txBody>
      </p:sp>
      <p:sp>
        <p:nvSpPr>
          <p:cNvPr id="9" name="Oval 8"/>
          <p:cNvSpPr/>
          <p:nvPr/>
        </p:nvSpPr>
        <p:spPr>
          <a:xfrm>
            <a:off x="11795760" y="6858000"/>
            <a:ext cx="2560320" cy="2560320"/>
          </a:xfrm>
          <a:prstGeom prst="ellipse">
            <a:avLst/>
          </a:prstGeom>
          <a:solidFill>
            <a:srgbClr val="901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70080" y="7818120"/>
            <a:ext cx="201167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Barlow"/>
              </a:rPr>
              <a:t>Pilot group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503920" y="3429000"/>
            <a:ext cx="8869680" cy="1188720"/>
          </a:xfrm>
          <a:prstGeom prst="rect">
            <a:avLst/>
          </a:prstGeom>
          <a:solidFill>
            <a:srgbClr val="90113E">
              <a:alpha val="196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8503920" y="4800600"/>
            <a:ext cx="8869680" cy="1188720"/>
          </a:xfrm>
          <a:prstGeom prst="rect">
            <a:avLst/>
          </a:prstGeom>
          <a:solidFill>
            <a:srgbClr val="90113E">
              <a:alpha val="196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503920" y="6172200"/>
            <a:ext cx="8869680" cy="1188720"/>
          </a:xfrm>
          <a:prstGeom prst="rect">
            <a:avLst/>
          </a:prstGeom>
          <a:solidFill>
            <a:srgbClr val="90113E">
              <a:alpha val="196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503920" y="7543800"/>
            <a:ext cx="8869680" cy="1188720"/>
          </a:xfrm>
          <a:prstGeom prst="rect">
            <a:avLst/>
          </a:prstGeom>
          <a:solidFill>
            <a:srgbClr val="90113E">
              <a:alpha val="196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-602092" y="8998522"/>
            <a:ext cx="18890092" cy="2585870"/>
          </a:xfrm>
          <a:prstGeom prst="rect">
            <a:avLst/>
          </a:prstGeom>
          <a:solidFill>
            <a:srgbClr val="90113E"/>
          </a:solid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232622" y="259778"/>
            <a:ext cx="6812379" cy="8998522"/>
          </a:xfrm>
          <a:custGeom>
            <a:avLst/>
            <a:gdLst/>
            <a:ahLst/>
            <a:cxnLst/>
            <a:rect l="l" t="t" r="r" b="b"/>
            <a:pathLst>
              <a:path w="6438900" h="8505190">
                <a:moveTo>
                  <a:pt x="4916170" y="8505190"/>
                </a:moveTo>
                <a:lnTo>
                  <a:pt x="4627880" y="8505190"/>
                </a:lnTo>
                <a:lnTo>
                  <a:pt x="0" y="8072120"/>
                </a:lnTo>
                <a:lnTo>
                  <a:pt x="0" y="4405630"/>
                </a:lnTo>
                <a:lnTo>
                  <a:pt x="910590" y="0"/>
                </a:lnTo>
                <a:lnTo>
                  <a:pt x="6438900" y="0"/>
                </a:lnTo>
                <a:lnTo>
                  <a:pt x="6438900" y="671830"/>
                </a:lnTo>
                <a:lnTo>
                  <a:pt x="4916170" y="850519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232622" y="259778"/>
            <a:ext cx="6812379" cy="8998522"/>
          </a:xfrm>
          <a:custGeom>
            <a:avLst/>
            <a:gdLst/>
            <a:ahLst/>
            <a:cxnLst/>
            <a:rect l="l" t="t" r="r" b="b"/>
            <a:pathLst>
              <a:path w="6438900" h="8505190">
                <a:moveTo>
                  <a:pt x="910590" y="0"/>
                </a:moveTo>
                <a:lnTo>
                  <a:pt x="1898650" y="289560"/>
                </a:lnTo>
                <a:lnTo>
                  <a:pt x="0" y="4405630"/>
                </a:lnTo>
                <a:lnTo>
                  <a:pt x="910590" y="0"/>
                </a:lnTo>
                <a:close/>
                <a:moveTo>
                  <a:pt x="3253740" y="8047990"/>
                </a:moveTo>
                <a:lnTo>
                  <a:pt x="4916170" y="8505190"/>
                </a:lnTo>
                <a:lnTo>
                  <a:pt x="6438900" y="671830"/>
                </a:lnTo>
                <a:lnTo>
                  <a:pt x="3253740" y="8047990"/>
                </a:lnTo>
                <a:close/>
              </a:path>
            </a:pathLst>
          </a:custGeom>
          <a:solidFill>
            <a:srgbClr val="0BB6BC"/>
          </a:solidFill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9372600" y="2011680"/>
            <a:ext cx="8046720" cy="1371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059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Garet"/>
              </a:rPr>
              <a:t>What groups use today, and the gap KASVIA fills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3064" y="256032"/>
            <a:ext cx="8750808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19"/>
              </a:lnSpc>
            </a:pPr>
            <a:r>
              <a:rPr lang="en-US" sz="8099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Bold"/>
              </a:rPr>
              <a:t>Competitors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52044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90113E"/>
                </a:solidFill>
                <a:latin typeface="Barlow"/>
              </a:rPr>
              <a:t>Paper record books</a:t>
            </a:r>
          </a:p>
          <a:p>
            <a:pPr>
              <a:spcAft>
                <a:spcPts val="0"/>
              </a:spcAft>
            </a:pPr>
            <a:r>
              <a:rPr sz="2400" b="0">
                <a:solidFill>
                  <a:srgbClr val="000000"/>
                </a:solidFill>
                <a:latin typeface="Barlow"/>
              </a:rPr>
              <a:t>Fragile, hand-calculated, no audit 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489204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90113E"/>
                </a:solidFill>
                <a:latin typeface="Barlow"/>
              </a:rPr>
              <a:t>Spreadsheets</a:t>
            </a:r>
          </a:p>
          <a:p>
            <a:pPr>
              <a:spcAft>
                <a:spcPts val="0"/>
              </a:spcAft>
            </a:pPr>
            <a:r>
              <a:rPr sz="2400" b="0">
                <a:solidFill>
                  <a:srgbClr val="000000"/>
                </a:solidFill>
                <a:latin typeface="Barlow"/>
              </a:rPr>
              <a:t>Easy to overwrite quietly, no role-based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626364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90113E"/>
                </a:solidFill>
                <a:latin typeface="Barlow"/>
              </a:rPr>
              <a:t>Cloud and mobile savings apps</a:t>
            </a:r>
          </a:p>
          <a:p>
            <a:pPr>
              <a:spcAft>
                <a:spcPts val="0"/>
              </a:spcAft>
            </a:pPr>
            <a:r>
              <a:rPr sz="2400" b="0">
                <a:solidFill>
                  <a:srgbClr val="000000"/>
                </a:solidFill>
                <a:latin typeface="Barlow"/>
              </a:rPr>
              <a:t>Need reliable internet and ongoing fees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763524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90113E"/>
                </a:solidFill>
                <a:latin typeface="Barlow"/>
              </a:rPr>
              <a:t>Mobile money alone (M-Pesa)</a:t>
            </a:r>
          </a:p>
          <a:p>
            <a:pPr>
              <a:spcAft>
                <a:spcPts val="0"/>
              </a:spcAft>
            </a:pPr>
            <a:r>
              <a:rPr sz="2400" b="0">
                <a:solidFill>
                  <a:srgbClr val="000000"/>
                </a:solidFill>
                <a:latin typeface="Barlow"/>
              </a:rPr>
              <a:t>Records payments, not shares, loans and meetings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108960" y="914400"/>
            <a:ext cx="14173200" cy="1463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</a:pPr>
            <a:r>
              <a:rPr lang="en-US" sz="8100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Bold"/>
              </a:rPr>
              <a:t>Competitive Advantage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08960" y="2286000"/>
            <a:ext cx="14173200" cy="822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200" b="1">
                <a:solidFill>
                  <a:srgbClr val="90113E"/>
                </a:solidFill>
                <a:latin typeface="Barlow Medium"/>
                <a:ea typeface="Barlow Medium"/>
                <a:cs typeface="Barlow Medium"/>
                <a:sym typeface="Barlow Medium"/>
              </a:rPr>
              <a:t>Offline-first, tamper-evident and built around how VSL groups already work</a:t>
            </a:r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-1902317" y="-84320"/>
            <a:ext cx="3804634" cy="10455640"/>
          </a:xfrm>
          <a:custGeom>
            <a:avLst/>
            <a:gdLst/>
            <a:ahLst/>
            <a:cxnLst/>
            <a:rect l="l" t="t" r="r" b="b"/>
            <a:pathLst>
              <a:path w="3804634" h="10455640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74813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08960" y="3657600"/>
            <a:ext cx="6949440" cy="2834640"/>
          </a:xfrm>
          <a:prstGeom prst="roundRect">
            <a:avLst/>
          </a:prstGeom>
          <a:solidFill>
            <a:srgbClr val="E6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429000" y="3977639"/>
            <a:ext cx="868680" cy="868680"/>
          </a:xfrm>
          <a:prstGeom prst="ellipse">
            <a:avLst/>
          </a:prstGeom>
          <a:solidFill>
            <a:srgbClr val="0BB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Barlow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977639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077E82"/>
                </a:solidFill>
                <a:latin typeface="Barlow"/>
              </a:rPr>
              <a:t>Truly offline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029200"/>
            <a:ext cx="6309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000000"/>
                </a:solidFill>
                <a:latin typeface="Barlow"/>
              </a:rPr>
              <a:t>Every module works with the Wi-Fi off. Tested fully disconnected, with no cloud or server bill.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0" y="3657600"/>
            <a:ext cx="6949440" cy="2834640"/>
          </a:xfrm>
          <a:prstGeom prst="roundRect">
            <a:avLst/>
          </a:prstGeom>
          <a:solidFill>
            <a:srgbClr val="FB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744200" y="3977639"/>
            <a:ext cx="868680" cy="868680"/>
          </a:xfrm>
          <a:prstGeom prst="ellipse">
            <a:avLst/>
          </a:prstGeom>
          <a:solidFill>
            <a:srgbClr val="901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Barlow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0" y="3977639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90113E"/>
                </a:solidFill>
                <a:latin typeface="Barlow"/>
              </a:rPr>
              <a:t>Tamper-evident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5029200"/>
            <a:ext cx="6309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000000"/>
                </a:solidFill>
                <a:latin typeface="Barlow"/>
              </a:rPr>
              <a:t>Nothing is deleted, only voided and reversed. Sensitive actions need a second Administrator sign-in.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6766560"/>
            <a:ext cx="6949440" cy="2834640"/>
          </a:xfrm>
          <a:prstGeom prst="roundRect">
            <a:avLst/>
          </a:prstGeom>
          <a:solidFill>
            <a:srgbClr val="FB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429000" y="7086600"/>
            <a:ext cx="868680" cy="868680"/>
          </a:xfrm>
          <a:prstGeom prst="ellipse">
            <a:avLst/>
          </a:prstGeom>
          <a:solidFill>
            <a:srgbClr val="901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Barlow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7086600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90113E"/>
                </a:solidFill>
                <a:latin typeface="Barlow"/>
              </a:rPr>
              <a:t>Built on the group’s own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8138160"/>
            <a:ext cx="6309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000000"/>
                </a:solidFill>
                <a:latin typeface="Barlow"/>
              </a:rPr>
              <a:t>Configurable interest, borrowing limits and lending rules checked automatically before approval.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24160" y="6766560"/>
            <a:ext cx="6949440" cy="2834640"/>
          </a:xfrm>
          <a:prstGeom prst="roundRect">
            <a:avLst/>
          </a:prstGeom>
          <a:solidFill>
            <a:srgbClr val="E6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744200" y="7086600"/>
            <a:ext cx="868680" cy="868680"/>
          </a:xfrm>
          <a:prstGeom prst="ellipse">
            <a:avLst/>
          </a:prstGeom>
          <a:solidFill>
            <a:srgbClr val="0BB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Barlow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0" y="7086600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077E82"/>
                </a:solidFill>
                <a:latin typeface="Barlow"/>
              </a:rPr>
              <a:t>Runs on what they have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8138160"/>
            <a:ext cx="6309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000000"/>
                </a:solidFill>
                <a:latin typeface="Barlow"/>
              </a:rPr>
              <a:t>A shared laptop plus members’ phones on a local hotspot. Receipts print for every transaction.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03359" y="3971075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703359" y="5158824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703359" y="6346573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703359" y="7534322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703359" y="3357575"/>
            <a:ext cx="14881282" cy="0"/>
          </a:xfrm>
          <a:prstGeom prst="line">
            <a:avLst/>
          </a:prstGeom>
          <a:ln w="19050" cap="flat">
            <a:solidFill>
              <a:srgbClr val="9011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703359" y="8136464"/>
            <a:ext cx="14881282" cy="0"/>
          </a:xfrm>
          <a:prstGeom prst="line">
            <a:avLst/>
          </a:prstGeom>
          <a:ln w="19050" cap="flat">
            <a:solidFill>
              <a:srgbClr val="9011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659450" y="2473365"/>
            <a:ext cx="1972472" cy="89402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673531" y="2473365"/>
            <a:ext cx="1972472" cy="89402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6913736" y="2694518"/>
            <a:ext cx="1524842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Month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75969" y="2694518"/>
            <a:ext cx="1316017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Month 2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645368" y="2473365"/>
            <a:ext cx="1972472" cy="89402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11029376" y="2694518"/>
            <a:ext cx="1316017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Month 3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2631287" y="2473365"/>
            <a:ext cx="1972472" cy="89402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4612169" y="2467083"/>
            <a:ext cx="1972472" cy="89402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2982784" y="2694518"/>
            <a:ext cx="1316017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Month 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936191" y="2694518"/>
            <a:ext cx="1316017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Month 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68802" y="2696086"/>
            <a:ext cx="4370690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Tasks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97743" y="3419744"/>
            <a:ext cx="4441750" cy="397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Core ledgers and dashboard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97743" y="4022985"/>
            <a:ext cx="4441750" cy="397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Role security and audit log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97743" y="4626226"/>
            <a:ext cx="4441750" cy="397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Offline testing and backups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97743" y="5229466"/>
            <a:ext cx="4441750" cy="397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Receipts, reports, EN/SW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97743" y="5832707"/>
            <a:ext cx="4441750" cy="397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Pilot group setup and training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97743" y="6435948"/>
            <a:ext cx="4441750" cy="397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Pilot with one VSL group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97743" y="7039189"/>
            <a:ext cx="4441750" cy="397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Feedback and M-Pesa support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97743" y="7642429"/>
            <a:ext cx="4441750" cy="397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Plan wider rollout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675120" y="3424302"/>
            <a:ext cx="1984248" cy="0"/>
          </a:xfrm>
          <a:prstGeom prst="line">
            <a:avLst/>
          </a:prstGeom>
          <a:ln w="485775" cap="flat">
            <a:solidFill>
              <a:srgbClr val="9011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7667244" y="4027543"/>
            <a:ext cx="2976372" cy="0"/>
          </a:xfrm>
          <a:prstGeom prst="line">
            <a:avLst/>
          </a:prstGeom>
          <a:ln w="485775" cap="flat">
            <a:solidFill>
              <a:srgbClr val="0BB6B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8659367" y="4603308"/>
            <a:ext cx="1984248" cy="0"/>
          </a:xfrm>
          <a:prstGeom prst="line">
            <a:avLst/>
          </a:prstGeom>
          <a:ln w="485775" cap="flat">
            <a:solidFill>
              <a:srgbClr val="FF66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11635740" y="6402324"/>
            <a:ext cx="2976372" cy="0"/>
          </a:xfrm>
          <a:prstGeom prst="line">
            <a:avLst/>
          </a:prstGeom>
          <a:ln w="485775" cap="flat">
            <a:solidFill>
              <a:srgbClr val="0831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12627863" y="6996645"/>
            <a:ext cx="1984248" cy="0"/>
          </a:xfrm>
          <a:prstGeom prst="line">
            <a:avLst/>
          </a:prstGeom>
          <a:ln w="485775" cap="flat">
            <a:solidFill>
              <a:srgbClr val="CF6E3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14612112" y="7590073"/>
            <a:ext cx="1984248" cy="0"/>
          </a:xfrm>
          <a:prstGeom prst="line">
            <a:avLst/>
          </a:prstGeom>
          <a:ln w="485775" cap="flat">
            <a:solidFill>
              <a:srgbClr val="FF575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8659367" y="5214576"/>
            <a:ext cx="3968496" cy="0"/>
          </a:xfrm>
          <a:prstGeom prst="line">
            <a:avLst/>
          </a:prstGeom>
          <a:ln w="485775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10643616" y="5809789"/>
            <a:ext cx="1984248" cy="0"/>
          </a:xfrm>
          <a:prstGeom prst="line">
            <a:avLst/>
          </a:prstGeom>
          <a:ln w="48577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1703359" y="343008"/>
            <a:ext cx="14733814" cy="1238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19"/>
              </a:lnSpc>
            </a:pPr>
            <a:r>
              <a:rPr lang="en-US" sz="6400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Project Traction: build, pilot, roll out</a:t>
            </a:r>
          </a:p>
        </p:txBody>
      </p:sp>
      <p:sp>
        <p:nvSpPr>
          <p:cNvPr id="36" name="AutoShape 36"/>
          <p:cNvSpPr/>
          <p:nvPr/>
        </p:nvSpPr>
        <p:spPr>
          <a:xfrm>
            <a:off x="-602092" y="8998522"/>
            <a:ext cx="18890092" cy="2585870"/>
          </a:xfrm>
          <a:prstGeom prst="rect">
            <a:avLst/>
          </a:prstGeom>
          <a:solidFill>
            <a:srgbClr val="90113E"/>
          </a:solidFill>
        </p:spPr>
        <p:txBody>
          <a:bodyPr/>
          <a:lstStyle/>
          <a:p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9144000" y="0"/>
            <a:ext cx="9341197" cy="10287000"/>
          </a:xfrm>
          <a:prstGeom prst="rect">
            <a:avLst/>
          </a:prstGeom>
          <a:solidFill>
            <a:srgbClr val="0BB6BC"/>
          </a:solid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028700" y="2583708"/>
            <a:ext cx="6200420" cy="6200420"/>
          </a:xfrm>
          <a:custGeom>
            <a:avLst/>
            <a:gdLst/>
            <a:ahLst/>
            <a:cxnLst/>
            <a:rect l="l" t="t" r="r" b="b"/>
            <a:pathLst>
              <a:path w="6200420" h="6200420">
                <a:moveTo>
                  <a:pt x="0" y="0"/>
                </a:moveTo>
                <a:lnTo>
                  <a:pt x="6200420" y="0"/>
                </a:lnTo>
                <a:lnTo>
                  <a:pt x="6200420" y="6200420"/>
                </a:lnTo>
                <a:lnTo>
                  <a:pt x="0" y="6200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028700" y="404813"/>
            <a:ext cx="14733814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19"/>
              </a:lnSpc>
            </a:pPr>
            <a:r>
              <a:rPr lang="en-US" sz="8099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Business Model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09760" y="1737360"/>
            <a:ext cx="7863840" cy="7680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184"/>
              </a:lnSpc>
              <a:spcAft>
                <a:spcPts val="1200"/>
              </a:spcAft>
              <a:buNone/>
            </a:pPr>
            <a:r>
              <a:rPr lang="en-US" sz="3400" b="1" spc="14">
                <a:solidFill>
                  <a:srgbClr val="FFFFFF"/>
                </a:solidFill>
                <a:latin typeface="Barlow Semi-Bold"/>
                <a:ea typeface="Barlow Semi-Bold"/>
                <a:cs typeface="Barlow Semi-Bold"/>
                <a:sym typeface="Canva Sans"/>
              </a:rPr>
              <a:t>How we make money</a:t>
            </a:r>
          </a:p>
          <a:p>
            <a:pPr marL="411480" indent="-411480" algn="l">
              <a:lnSpc>
                <a:spcPts val="4184"/>
              </a:lnSpc>
              <a:spcAft>
                <a:spcPts val="1200"/>
              </a:spcAft>
              <a:buFont typeface="Arial"/>
              <a:buChar char="•"/>
            </a:pPr>
            <a:r>
              <a:rPr lang="en-US" sz="2600" spc="14">
                <a:solidFill>
                  <a:srgbClr val="FFFFFF"/>
                </a:solidFill>
                <a:latin typeface="Barlow"/>
                <a:ea typeface="Barlow"/>
                <a:cs typeface="Barlow"/>
                <a:sym typeface="Canva Sans"/>
              </a:rPr>
              <a:t>Free pilot with one VSL group to prove the system</a:t>
            </a:r>
          </a:p>
          <a:p>
            <a:pPr marL="411480" indent="-411480" algn="l">
              <a:lnSpc>
                <a:spcPts val="4184"/>
              </a:lnSpc>
              <a:spcAft>
                <a:spcPts val="1200"/>
              </a:spcAft>
              <a:buFont typeface="Arial"/>
              <a:buChar char="•"/>
            </a:pPr>
            <a:r>
              <a:rPr lang="en-US" sz="2600" spc="14">
                <a:solidFill>
                  <a:srgbClr val="FFFFFF"/>
                </a:solidFill>
                <a:latin typeface="Barlow"/>
                <a:ea typeface="Barlow"/>
                <a:cs typeface="Barlow"/>
                <a:sym typeface="Canva Sans"/>
              </a:rPr>
              <a:t>Then a small annual licence per group (not per member)</a:t>
            </a:r>
          </a:p>
          <a:p>
            <a:pPr marL="411480" indent="-411480" algn="l">
              <a:lnSpc>
                <a:spcPts val="4184"/>
              </a:lnSpc>
              <a:spcAft>
                <a:spcPts val="1200"/>
              </a:spcAft>
              <a:buFont typeface="Arial"/>
              <a:buChar char="•"/>
            </a:pPr>
            <a:r>
              <a:rPr lang="en-US" sz="2600" spc="14">
                <a:solidFill>
                  <a:srgbClr val="FFFFFF"/>
                </a:solidFill>
                <a:latin typeface="Barlow"/>
                <a:ea typeface="Barlow"/>
                <a:cs typeface="Barlow"/>
                <a:sym typeface="Canva Sans"/>
              </a:rPr>
              <a:t>Paid setup, training and support; NGO or donor partners can sponsor groups</a:t>
            </a:r>
          </a:p>
          <a:p>
            <a:pPr marL="0" indent="0" algn="l">
              <a:lnSpc>
                <a:spcPts val="4184"/>
              </a:lnSpc>
              <a:spcAft>
                <a:spcPts val="1200"/>
              </a:spcAft>
              <a:buNone/>
            </a:pPr>
            <a:r>
              <a:rPr lang="en-US" sz="3400" b="1" spc="14">
                <a:solidFill>
                  <a:srgbClr val="FFFFFF"/>
                </a:solidFill>
                <a:latin typeface="Barlow Semi-Bold"/>
                <a:ea typeface="Barlow Semi-Bold"/>
                <a:cs typeface="Barlow Semi-Bold"/>
                <a:sym typeface="Canva Sans"/>
              </a:rPr>
              <a:t>Our margins</a:t>
            </a:r>
          </a:p>
          <a:p>
            <a:pPr marL="411480" indent="-411480" algn="l">
              <a:lnSpc>
                <a:spcPts val="4184"/>
              </a:lnSpc>
              <a:spcAft>
                <a:spcPts val="1200"/>
              </a:spcAft>
              <a:buFont typeface="Arial"/>
              <a:buChar char="•"/>
            </a:pPr>
            <a:r>
              <a:rPr lang="en-US" sz="2600" spc="14">
                <a:solidFill>
                  <a:srgbClr val="FFFFFF"/>
                </a:solidFill>
                <a:latin typeface="Barlow"/>
                <a:ea typeface="Barlow"/>
                <a:cs typeface="Barlow"/>
                <a:sym typeface="Canva Sans"/>
              </a:rPr>
              <a:t>Near-zero cost to serve: runs on the group’s own devices, no cloud or server bill</a:t>
            </a:r>
          </a:p>
          <a:p>
            <a:pPr marL="411480" indent="-411480" algn="l">
              <a:lnSpc>
                <a:spcPts val="4184"/>
              </a:lnSpc>
              <a:spcAft>
                <a:spcPts val="1200"/>
              </a:spcAft>
              <a:buFont typeface="Arial"/>
              <a:buChar char="•"/>
            </a:pPr>
            <a:r>
              <a:rPr lang="en-US" sz="2600" spc="14">
                <a:solidFill>
                  <a:srgbClr val="FFFFFF"/>
                </a:solidFill>
                <a:latin typeface="Barlow"/>
                <a:ea typeface="Barlow"/>
                <a:cs typeface="Barlow"/>
                <a:sym typeface="Canva Sans"/>
              </a:rPr>
              <a:t>Main costs are training and support, so margins grow as groups self-serve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-1902317" y="-84320"/>
            <a:ext cx="3804634" cy="10455640"/>
          </a:xfrm>
          <a:custGeom>
            <a:avLst/>
            <a:gdLst/>
            <a:ahLst/>
            <a:cxnLst/>
            <a:rect l="l" t="t" r="r" b="b"/>
            <a:pathLst>
              <a:path w="3804634" h="10455640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74813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2386584" y="2103120"/>
            <a:ext cx="14173200" cy="822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21"/>
              </a:lnSpc>
            </a:pPr>
            <a:r>
              <a:rPr lang="en-US" sz="3400" b="1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Canva Sans"/>
              </a:rPr>
              <a:t>Four steps from one group to many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82668" y="667172"/>
            <a:ext cx="13944632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</a:pPr>
            <a:r>
              <a:rPr lang="en-US" sz="8100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Go To 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86584" y="3383280"/>
            <a:ext cx="3566160" cy="5120640"/>
          </a:xfrm>
          <a:prstGeom prst="roundRect">
            <a:avLst/>
          </a:prstGeom>
          <a:solidFill>
            <a:srgbClr val="E6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706624" y="3749040"/>
            <a:ext cx="914400" cy="914400"/>
          </a:xfrm>
          <a:prstGeom prst="ellipse">
            <a:avLst/>
          </a:prstGeom>
          <a:solidFill>
            <a:srgbClr val="0BB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Barlow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6624" y="498348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077E82"/>
                </a:solidFill>
                <a:latin typeface="Barlow"/>
              </a:rPr>
              <a:t>Pilot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6624" y="5806440"/>
            <a:ext cx="301752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300" b="0">
                <a:solidFill>
                  <a:srgbClr val="000000"/>
                </a:solidFill>
                <a:latin typeface="Barlow"/>
              </a:rPr>
              <a:t>One VSL group for 4–6 weeks, using its own savings rules, interest rate and members.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3383280"/>
            <a:ext cx="3566160" cy="5120640"/>
          </a:xfrm>
          <a:prstGeom prst="roundRect">
            <a:avLst/>
          </a:prstGeom>
          <a:solidFill>
            <a:srgbClr val="FB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47104" y="3749040"/>
            <a:ext cx="914400" cy="914400"/>
          </a:xfrm>
          <a:prstGeom prst="ellipse">
            <a:avLst/>
          </a:prstGeom>
          <a:solidFill>
            <a:srgbClr val="901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Barlow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498348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90113E"/>
                </a:solidFill>
                <a:latin typeface="Barlow"/>
              </a:rPr>
              <a:t>Partner locally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5806440"/>
            <a:ext cx="301752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300" b="0">
                <a:solidFill>
                  <a:srgbClr val="000000"/>
                </a:solidFill>
                <a:latin typeface="Barlow"/>
              </a:rPr>
              <a:t>Work with Kakuma community groups and NGOs that already support savings groups.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67544" y="3383280"/>
            <a:ext cx="3566160" cy="5120640"/>
          </a:xfrm>
          <a:prstGeom prst="roundRect">
            <a:avLst/>
          </a:prstGeom>
          <a:solidFill>
            <a:srgbClr val="E6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387584" y="3749040"/>
            <a:ext cx="914400" cy="914400"/>
          </a:xfrm>
          <a:prstGeom prst="ellipse">
            <a:avLst/>
          </a:prstGeom>
          <a:solidFill>
            <a:srgbClr val="0BB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Barlow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7584" y="498348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077E82"/>
                </a:solidFill>
                <a:latin typeface="Barlow"/>
              </a:rPr>
              <a:t>Train a champion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5806440"/>
            <a:ext cx="301752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300" b="0">
                <a:solidFill>
                  <a:srgbClr val="000000"/>
                </a:solidFill>
                <a:latin typeface="Barlow"/>
              </a:rPr>
              <a:t>Train each group’s Treasurer; groups learn from each other through word of mouth.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908024" y="3383280"/>
            <a:ext cx="3566160" cy="5120640"/>
          </a:xfrm>
          <a:prstGeom prst="roundRect">
            <a:avLst/>
          </a:prstGeom>
          <a:solidFill>
            <a:srgbClr val="FB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4228064" y="3749040"/>
            <a:ext cx="914400" cy="914400"/>
          </a:xfrm>
          <a:prstGeom prst="ellipse">
            <a:avLst/>
          </a:prstGeom>
          <a:solidFill>
            <a:srgbClr val="901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Barlow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28064" y="498348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90113E"/>
                </a:solidFill>
                <a:latin typeface="Barlow"/>
              </a:rPr>
              <a:t>Expand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28064" y="5806440"/>
            <a:ext cx="301752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300" b="0">
                <a:solidFill>
                  <a:srgbClr val="000000"/>
                </a:solidFill>
                <a:latin typeface="Barlow"/>
              </a:rPr>
              <a:t>Move to more refugee and host-community groups once the pilot proves it in the field.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-1902317" y="-84320"/>
            <a:ext cx="3804634" cy="10455640"/>
          </a:xfrm>
          <a:custGeom>
            <a:avLst/>
            <a:gdLst/>
            <a:ahLst/>
            <a:cxnLst/>
            <a:rect l="l" t="t" r="r" b="b"/>
            <a:pathLst>
              <a:path w="3804634" h="10455640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74813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2386584" y="2103120"/>
            <a:ext cx="14173200" cy="822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21"/>
              </a:lnSpc>
            </a:pPr>
            <a:r>
              <a:rPr lang="en-US" sz="3200" b="1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Canva Sans"/>
              </a:rPr>
              <a:t>KASVIA supports four UN Sustainable Development Goals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82668" y="667172"/>
            <a:ext cx="13944632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</a:pPr>
            <a:r>
              <a:rPr lang="en-US" sz="8100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Social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386584" y="3383280"/>
            <a:ext cx="3566160" cy="3017520"/>
          </a:xfrm>
          <a:prstGeom prst="rect">
            <a:avLst/>
          </a:prstGeom>
          <a:solidFill>
            <a:srgbClr val="E5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60903" y="352044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Barlow"/>
              </a:rPr>
              <a:t>SDG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0903" y="420624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Barlow"/>
              </a:rPr>
              <a:t>No Poverty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6584" y="6583680"/>
            <a:ext cx="35661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000000"/>
                </a:solidFill>
                <a:latin typeface="Barlow"/>
              </a:rPr>
              <a:t>Protects members’ savings and loan records from loss.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3383280"/>
            <a:ext cx="3566160" cy="3017520"/>
          </a:xfrm>
          <a:prstGeom prst="rect">
            <a:avLst/>
          </a:prstGeom>
          <a:solidFill>
            <a:srgbClr val="A21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352044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Barlow"/>
              </a:rPr>
              <a:t>SDG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420624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Barlow"/>
              </a:rPr>
              <a:t>Decent Work &amp; Economic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7064" y="6583680"/>
            <a:ext cx="35661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000000"/>
                </a:solidFill>
                <a:latin typeface="Barlow"/>
              </a:rPr>
              <a:t>Gives informal savers a trusted way to save and borrow.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67544" y="3383280"/>
            <a:ext cx="3566160" cy="3017520"/>
          </a:xfrm>
          <a:prstGeom prst="rect">
            <a:avLst/>
          </a:prstGeom>
          <a:solidFill>
            <a:srgbClr val="DD1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41864" y="352044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Barlow"/>
              </a:rPr>
              <a:t>SDG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41864" y="420624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Barlow"/>
              </a:rPr>
              <a:t>Reduced Inequalities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67544" y="6583680"/>
            <a:ext cx="35661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000000"/>
                </a:solidFill>
                <a:latin typeface="Barlow"/>
              </a:rPr>
              <a:t>Serves refugee and host-community members alike.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908024" y="3383280"/>
            <a:ext cx="3566160" cy="3017520"/>
          </a:xfrm>
          <a:prstGeom prst="rect">
            <a:avLst/>
          </a:prstGeom>
          <a:solidFill>
            <a:srgbClr val="006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82344" y="352044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Barlow"/>
              </a:rPr>
              <a:t>SDG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82344" y="4206240"/>
            <a:ext cx="31089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Barlow"/>
              </a:rPr>
              <a:t>Strong Institutions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08024" y="6583680"/>
            <a:ext cx="35661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000000"/>
                </a:solidFill>
                <a:latin typeface="Barlow"/>
              </a:rPr>
              <a:t>Audit logs and role controls build trust in group leaders.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4128" y="2468880"/>
            <a:ext cx="15544800" cy="6400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2920" lvl="1" indent="-502920" algn="l">
              <a:lnSpc>
                <a:spcPts val="6549"/>
              </a:lnSpc>
              <a:spcAft>
                <a:spcPts val="1600"/>
              </a:spcAft>
              <a:buFont typeface="Arial"/>
              <a:buChar char="•"/>
            </a:pPr>
            <a:r>
              <a:rPr lang="en-US" sz="3600" spc="2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Partner with us on one pilot VSL group for 4–6 weeks, using its own savings rules, interest rate and members</a:t>
            </a:r>
          </a:p>
          <a:p>
            <a:pPr marL="502920" lvl="1" indent="-502920" algn="l">
              <a:lnSpc>
                <a:spcPts val="6549"/>
              </a:lnSpc>
              <a:spcAft>
                <a:spcPts val="1600"/>
              </a:spcAft>
              <a:buFont typeface="Arial"/>
              <a:buChar char="•"/>
            </a:pPr>
            <a:r>
              <a:rPr lang="en-US" sz="3600" spc="2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Share feedback on the setup wizard and receipts</a:t>
            </a:r>
          </a:p>
          <a:p>
            <a:pPr marL="502920" lvl="1" indent="-502920" algn="l">
              <a:lnSpc>
                <a:spcPts val="6549"/>
              </a:lnSpc>
              <a:spcAft>
                <a:spcPts val="1600"/>
              </a:spcAft>
              <a:buFont typeface="Arial"/>
              <a:buChar char="•"/>
            </a:pPr>
            <a:r>
              <a:rPr lang="en-US" sz="3600" spc="2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Support connecting M-Pesa records where needed</a:t>
            </a:r>
          </a:p>
          <a:p>
            <a:pPr marL="502920" lvl="1" indent="-502920" algn="l">
              <a:lnSpc>
                <a:spcPts val="6549"/>
              </a:lnSpc>
              <a:spcAft>
                <a:spcPts val="1600"/>
              </a:spcAft>
              <a:buFont typeface="Arial"/>
              <a:buChar char="•"/>
            </a:pPr>
            <a:r>
              <a:rPr lang="en-US" sz="3600" b="1" spc="21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In return: a working digital passbook for the group, and field proof before a wider rollout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4128" y="658368"/>
            <a:ext cx="15544800" cy="1280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  <a:spcBef>
                <a:spcPct val="0"/>
              </a:spcBef>
            </a:pPr>
            <a:r>
              <a:rPr lang="en-US" sz="8000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Bold"/>
              </a:rPr>
              <a:t>Our Ask: one pilot group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105725" y="1028700"/>
            <a:ext cx="13944632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</a:pPr>
            <a:r>
              <a:rPr lang="en-US" sz="8100" b="1" u="none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 Team Members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05725" y="2483650"/>
            <a:ext cx="12322393" cy="530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200" b="1">
                <a:solidFill>
                  <a:srgbClr val="90113E"/>
                </a:solidFill>
                <a:latin typeface="Barlow Medium"/>
                <a:ea typeface="Barlow Medium"/>
                <a:cs typeface="Barlow Medium"/>
                <a:sym typeface="Barlow Medium"/>
              </a:rPr>
              <a:t>The people building KASVIA</a:t>
            </a:r>
          </a:p>
        </p:txBody>
      </p:sp>
      <p:sp>
        <p:nvSpPr>
          <p:cNvPr id="8" name="Freeform 8"/>
          <p:cNvSpPr/>
          <p:nvPr/>
        </p:nvSpPr>
        <p:spPr>
          <a:xfrm>
            <a:off x="10365905" y="5143500"/>
            <a:ext cx="2637502" cy="2637491"/>
          </a:xfrm>
          <a:custGeom>
            <a:avLst/>
            <a:gdLst/>
            <a:ahLst/>
            <a:cxn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anchor="ctr"/>
          <a:lstStyle/>
          <a:p>
            <a:pPr algn="ctr"/>
            <a:endParaRPr sz="2400" dirty="0">
              <a:solidFill>
                <a:srgbClr val="077E82"/>
              </a:solidFill>
              <a:latin typeface="Barlow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3105725" y="5010959"/>
            <a:ext cx="2637502" cy="2637491"/>
          </a:xfrm>
          <a:custGeom>
            <a:avLst/>
            <a:gdLst/>
            <a:ahLst/>
            <a:cxn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anchor="ctr"/>
          <a:lstStyle/>
          <a:p>
            <a:pPr algn="ctr"/>
            <a:endParaRPr sz="2400" dirty="0">
              <a:solidFill>
                <a:srgbClr val="077E82"/>
              </a:solidFill>
              <a:latin typeface="Barlow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6735815" y="5010959"/>
            <a:ext cx="2637502" cy="2637491"/>
          </a:xfrm>
          <a:custGeom>
            <a:avLst/>
            <a:gdLst/>
            <a:ahLst/>
            <a:cxn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anchor="ctr"/>
          <a:lstStyle/>
          <a:p>
            <a:pPr algn="ctr"/>
            <a:endParaRPr sz="2400" dirty="0">
              <a:solidFill>
                <a:srgbClr val="077E82"/>
              </a:solidFill>
              <a:latin typeface="Barlow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935292" y="8203911"/>
            <a:ext cx="3017520" cy="418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</a:pPr>
            <a:r>
              <a:rPr lang="en-KE" sz="2800" b="1" u="none" dirty="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Aganze Munganga</a:t>
            </a:r>
            <a:endParaRPr lang="en-US" sz="2800" b="1" u="none" dirty="0">
              <a:solidFill>
                <a:srgbClr val="90113E"/>
              </a:solidFill>
              <a:latin typeface="Barlow Semi-Bold"/>
              <a:ea typeface="Barlow Semi-Bold"/>
              <a:cs typeface="Barlow Semi-Bold"/>
              <a:sym typeface="Barlow Semi-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935292" y="8889711"/>
            <a:ext cx="3017520" cy="427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KE" sz="2400" dirty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Team lead</a:t>
            </a:r>
            <a:endParaRPr lang="en-US" sz="2400" dirty="0">
              <a:solidFill>
                <a:srgbClr val="90113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565382" y="8203911"/>
            <a:ext cx="3017520" cy="418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</a:pPr>
            <a:r>
              <a:rPr lang="en-KE" sz="2800" b="1" u="none" dirty="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Grace </a:t>
            </a:r>
            <a:r>
              <a:rPr lang="en-KE" sz="2800" b="1" u="none" dirty="0" err="1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Basubi</a:t>
            </a:r>
            <a:endParaRPr lang="en-US" sz="2800" b="1" u="none" dirty="0">
              <a:solidFill>
                <a:srgbClr val="90113E"/>
              </a:solidFill>
              <a:latin typeface="Barlow Semi-Bold"/>
              <a:ea typeface="Barlow Semi-Bold"/>
              <a:cs typeface="Barlow Semi-Bold"/>
              <a:sym typeface="Barlow Semi-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565382" y="8889711"/>
            <a:ext cx="3017520" cy="427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KE" sz="2400" dirty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Team Lead assistance</a:t>
            </a:r>
            <a:endParaRPr lang="en-US" sz="2400" dirty="0">
              <a:solidFill>
                <a:srgbClr val="90113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365905" y="8203910"/>
            <a:ext cx="3017520" cy="418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</a:pPr>
            <a:r>
              <a:rPr lang="en-KE" sz="2800" b="1" u="none" dirty="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Victorine </a:t>
            </a:r>
            <a:r>
              <a:rPr lang="en-KE" sz="2800" b="1" u="none" dirty="0" err="1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Kabule</a:t>
            </a:r>
            <a:endParaRPr lang="en-US" sz="2800" b="1" u="none" dirty="0">
              <a:solidFill>
                <a:srgbClr val="90113E"/>
              </a:solidFill>
              <a:latin typeface="Barlow Semi-Bold"/>
              <a:ea typeface="Barlow Semi-Bold"/>
              <a:cs typeface="Barlow Semi-Bold"/>
              <a:sym typeface="Barlow Semi-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078041" y="8831372"/>
            <a:ext cx="3017520" cy="427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KE" sz="2400" dirty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Finance</a:t>
            </a:r>
            <a:endParaRPr lang="en-US" sz="2400" dirty="0">
              <a:solidFill>
                <a:srgbClr val="90113E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  <p:txBody>
          <a:bodyPr/>
          <a:lstStyle/>
          <a:p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-1902317" y="-84320"/>
            <a:ext cx="3804634" cy="10455640"/>
          </a:xfrm>
          <a:custGeom>
            <a:avLst/>
            <a:gdLst/>
            <a:ahLst/>
            <a:cxnLst/>
            <a:rect l="l" t="t" r="r" b="b"/>
            <a:pathLst>
              <a:path w="3804634" h="10455640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74813"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34634" y="-84320"/>
            <a:ext cx="10455640" cy="10455640"/>
          </a:xfrm>
          <a:custGeom>
            <a:avLst/>
            <a:gdLst/>
            <a:ahLst/>
            <a:cxnLst/>
            <a:rect l="l" t="t" r="r" b="b"/>
            <a:pathLst>
              <a:path w="10455640" h="10455640">
                <a:moveTo>
                  <a:pt x="0" y="0"/>
                </a:moveTo>
                <a:lnTo>
                  <a:pt x="10455640" y="0"/>
                </a:lnTo>
                <a:lnTo>
                  <a:pt x="10455640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4041648" y="3566160"/>
            <a:ext cx="12984480" cy="274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5000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Thank you!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52160" y="6949440"/>
            <a:ext cx="11704320" cy="1184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Aft>
                <a:spcPts val="800"/>
              </a:spcAft>
            </a:pPr>
            <a:r>
              <a:rPr lang="en-US" sz="3000" b="1" dirty="0">
                <a:solidFill>
                  <a:srgbClr val="90113E"/>
                </a:solidFill>
                <a:latin typeface="Barlow Medium"/>
                <a:ea typeface="Barlow Medium"/>
                <a:cs typeface="Barlow Medium"/>
                <a:sym typeface="Barlow Medium"/>
              </a:rPr>
              <a:t>KASVIA: A digital passbook for every village savings group</a:t>
            </a:r>
          </a:p>
          <a:p>
            <a:pPr algn="ctr">
              <a:lnSpc>
                <a:spcPts val="4479"/>
              </a:lnSpc>
              <a:spcAft>
                <a:spcPts val="800"/>
              </a:spcAft>
            </a:pPr>
            <a:r>
              <a:rPr lang="en-KE" sz="2800" b="1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  <a:hlinkClick r:id="rId4"/>
              </a:rPr>
              <a:t>chrisjoy5511@gmail.com</a:t>
            </a:r>
            <a:r>
              <a:rPr lang="en-KE" sz="2800" b="1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|   </a:t>
            </a:r>
            <a:r>
              <a:rPr lang="en-KE" sz="2800" b="1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+254 708 478 491   </a:t>
            </a:r>
            <a:r>
              <a:rPr lang="en-US" sz="2800" b="1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|   </a:t>
            </a:r>
            <a:r>
              <a:rPr lang="en-KE" sz="2800" b="1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Aganze Munganga</a:t>
            </a:r>
            <a:endParaRPr lang="en-US" sz="2800" b="1" dirty="0">
              <a:solidFill>
                <a:srgbClr val="000000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4892730" y="1028700"/>
            <a:ext cx="2793363" cy="1396681"/>
          </a:xfrm>
          <a:custGeom>
            <a:avLst/>
            <a:gdLst/>
            <a:ahLst/>
            <a:cxnLst/>
            <a:rect l="l" t="t" r="r" b="b"/>
            <a:pathLst>
              <a:path w="2793363" h="1396681">
                <a:moveTo>
                  <a:pt x="0" y="0"/>
                </a:moveTo>
                <a:lnTo>
                  <a:pt x="2793363" y="0"/>
                </a:lnTo>
                <a:lnTo>
                  <a:pt x="2793363" y="1396681"/>
                </a:lnTo>
                <a:lnTo>
                  <a:pt x="0" y="13966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 flipH="1">
            <a:off x="2825260" y="6798102"/>
            <a:ext cx="2438400" cy="2438400"/>
          </a:xfrm>
          <a:custGeom>
            <a:avLst/>
            <a:gdLst/>
            <a:ahLst/>
            <a:cxnLst/>
            <a:rect l="l" t="t" r="r" b="b"/>
            <a:pathLst>
              <a:path w="2438400" h="2438400">
                <a:moveTo>
                  <a:pt x="2438400" y="0"/>
                </a:moveTo>
                <a:lnTo>
                  <a:pt x="0" y="0"/>
                </a:lnTo>
                <a:lnTo>
                  <a:pt x="0" y="2438400"/>
                </a:lnTo>
                <a:lnTo>
                  <a:pt x="2438400" y="2438400"/>
                </a:lnTo>
                <a:lnTo>
                  <a:pt x="24384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629257" y="893789"/>
            <a:ext cx="1079292" cy="269823"/>
          </a:xfrm>
          <a:custGeom>
            <a:avLst/>
            <a:gdLst/>
            <a:ahLst/>
            <a:cxnLst/>
            <a:rect l="l" t="t" r="r" b="b"/>
            <a:pathLst>
              <a:path w="1079292" h="269823">
                <a:moveTo>
                  <a:pt x="0" y="0"/>
                </a:moveTo>
                <a:lnTo>
                  <a:pt x="1079292" y="0"/>
                </a:lnTo>
                <a:lnTo>
                  <a:pt x="1079292" y="269822"/>
                </a:lnTo>
                <a:lnTo>
                  <a:pt x="0" y="2698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883</Words>
  <Application>Microsoft Office PowerPoint</Application>
  <PresentationFormat>Custom</PresentationFormat>
  <Paragraphs>135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Barlow Semi-Bold</vt:lpstr>
      <vt:lpstr>Calibri</vt:lpstr>
      <vt:lpstr>Barlow Medium</vt:lpstr>
      <vt:lpstr>Barlow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Copy of PLP Standard Pitch Deck Template</dc:title>
  <cp:lastModifiedBy>Aganze Munganga</cp:lastModifiedBy>
  <cp:revision>2</cp:revision>
  <dcterms:created xsi:type="dcterms:W3CDTF">2006-08-16T00:00:00Z</dcterms:created>
  <dcterms:modified xsi:type="dcterms:W3CDTF">2026-10-16T11:32:02Z</dcterms:modified>
  <dc:identifier>DAGkWCOrsas</dc:identifier>
</cp:coreProperties>
</file>